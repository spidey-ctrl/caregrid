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394960"/>
            <a:ext cx="10881360" cy="18288"/>
          </a:xfrm>
          <a:prstGeom prst="rect">
            <a:avLst/>
          </a:prstGeom>
          <a:solidFill>
            <a:srgbClr val="0B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300" b="1" i="0">
                <a:solidFill>
                  <a:srgbClr val="2F9E62"/>
                </a:solidFill>
                <a:latin typeface="Avenir Next"/>
              </a:rPr>
              <a:t>LIVE FROM THE RUNNING SYSTEM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Avenir Next"/>
              </a:rPr>
              <a:t>CareGrid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CFDEEE"/>
                </a:solidFill>
                <a:latin typeface="Avenir Next"/>
              </a:rPr>
              <a:t>ICU Bed-Arbitration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venir Next"/>
              </a:rPr>
              <a:t>Scoring the critical-care waitlist on severity, survival likelihood, and waiting time — explained at every layer, audited on every re-rank, and decided by the clinician.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2121408" cy="969264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888736"/>
            <a:ext cx="1865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XGBoost survival model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FB4CC"/>
                </a:solidFill>
                <a:latin typeface="Avenir Next"/>
              </a:rPr>
              <a:t>SOFA + age + comorbidity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4660" y="5806440"/>
            <a:ext cx="2121408" cy="969264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2676" y="5888736"/>
            <a:ext cx="1865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AUC 0.61 · Brier 0.121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FB4CC"/>
                </a:solidFill>
                <a:latin typeface="Avenir Next"/>
              </a:rPr>
              <a:t>hold-out validated before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5806440"/>
            <a:ext cx="2121408" cy="969264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4376" y="5888736"/>
            <a:ext cx="1865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3 weight profiles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FB4CC"/>
                </a:solidFill>
                <a:latin typeface="Avenir Next"/>
              </a:rPr>
              <a:t>policy stance as a named preset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8060" y="5806440"/>
            <a:ext cx="2121408" cy="969264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6076" y="5888736"/>
            <a:ext cx="1865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SHAP-explainable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FB4CC"/>
                </a:solidFill>
                <a:latin typeface="Avenir Next"/>
              </a:rPr>
              <a:t>every prediction attributed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5806440"/>
            <a:ext cx="2121408" cy="969264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7776" y="5888736"/>
            <a:ext cx="1865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Clinician in the loop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9FB4CC"/>
                </a:solidFill>
                <a:latin typeface="Avenir Next"/>
              </a:rPr>
              <a:t>confirm or deviate, always logged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Which waiting patient gets the next ICU bed?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17212B"/>
                </a:solidFill>
                <a:latin typeface="Avenir Next"/>
              </a:rPr>
              <a:t>Critical-care capacity is fixed and the queue is never empty. Every candidate — the sickest, the most likely to survive, the longest-waiter — is a real human whose claim the team must weigh under time pressure and public scrutiny.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82296" cy="178308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478024"/>
            <a:ext cx="51480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2355B"/>
                </a:solidFill>
                <a:latin typeface="Avenir Next"/>
              </a:rPr>
              <a:t>Zero-sum scarcity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Every occupied ICU bed blocks another patient; choosing is inevitable, so the choice must be defensible.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233172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7" y="2331720"/>
            <a:ext cx="82296" cy="178308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5" y="2478024"/>
            <a:ext cx="51480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2355B"/>
                </a:solidFill>
                <a:latin typeface="Avenir Next"/>
              </a:rPr>
              <a:t>Conflicting signals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Severity, survival likelihood, and time waited pull in opposite directions — the ranking has to make the trade-off explicit.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97679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97679"/>
            <a:ext cx="82296" cy="178308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443983"/>
            <a:ext cx="51480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2355B"/>
                </a:solidFill>
                <a:latin typeface="Avenir Next"/>
              </a:rPr>
              <a:t>Opaque scoring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Existing triage scores rank the queue but never say why — no factor breakdown, no explanation a nurse can challenge.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4297679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7" y="4297679"/>
            <a:ext cx="82296" cy="1783080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4443983"/>
            <a:ext cx="514807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2355B"/>
                </a:solidFill>
                <a:latin typeface="Avenir Next"/>
              </a:rPr>
              <a:t>Unreviewable decisions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Allocations decided in a human's head leave no record — no replay, no evidence for a morbidity-and-mortality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355B"/>
                </a:solidFill>
                <a:latin typeface="Avenir Next"/>
              </a:rPr>
              <a:t>What if the queue could rank itself — and be able to say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One queue, three signals — explained at every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681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5468112" cy="6400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45920"/>
            <a:ext cx="5065776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12355B"/>
                </a:solidFill>
                <a:latin typeface="Avenir Next"/>
              </a:rPr>
              <a:t>1 · Clinical inputs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D6B78"/>
                </a:solidFill>
                <a:latin typeface="Avenir Next"/>
              </a:rPr>
              <a:t>Six SOFA organ components + age + comorbidity — quantities a clinician already knows and can verify on the chart.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54681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463040"/>
            <a:ext cx="5468112" cy="64008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645920"/>
            <a:ext cx="5065776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12355B"/>
                </a:solidFill>
                <a:latin typeface="Avenir Next"/>
              </a:rPr>
              <a:t>2 · Survival model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D6B78"/>
                </a:solidFill>
                <a:latin typeface="Avenir Next"/>
              </a:rPr>
              <a:t>CPU gradient-boosted trees trained on 2,880 ICU-patient outcomes; predicts each candidate's survival probability per episode.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19856"/>
            <a:ext cx="54681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5468112" cy="64008"/>
          </a:xfrm>
          <a:prstGeom prst="rect">
            <a:avLst/>
          </a:prstGeom>
          <a:solidFill>
            <a:srgbClr val="C19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602736"/>
            <a:ext cx="5065776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12355B"/>
                </a:solidFill>
                <a:latin typeface="Avenir Next"/>
              </a:rPr>
              <a:t>3 · Validated gate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D6B78"/>
                </a:solidFill>
                <a:latin typeface="Avenir Next"/>
              </a:rPr>
              <a:t>Hold-out AUC 0.61 · Brier 0.121 · decile calibration — a demo refuses to run on a model that fails the tolerance.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419856"/>
            <a:ext cx="54681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3419856"/>
            <a:ext cx="5468112" cy="64008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3602736"/>
            <a:ext cx="5065776" cy="1426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12355B"/>
                </a:solidFill>
                <a:latin typeface="Avenir Next"/>
              </a:rPr>
              <a:t>4 · Explained rank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D6B78"/>
                </a:solidFill>
                <a:latin typeface="Avenir Next"/>
              </a:rPr>
              <a:t>Priority Score = w₁·severity + w₂·survival + w₃·wait with SHAP attribution on the survival term, a deterministic Tie-Break Cascade, and a snapshot audit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7212B"/>
                </a:solidFill>
                <a:latin typeface="Avenir Next"/>
              </a:rPr>
              <a:t>The scoring model combines a trained ML survival predictor with transparent, deterministic arbitration logic — so the machine-learning part is explainable and the fairness part is reproducible.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LIVE DASHBOARD — THE RANKED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Every priority score you can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7781331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ive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635027" cy="5129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Transparent scoring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Each score is the weighted sum 0.582 = 0.5·sev 0.458 + 0.3·surv 0.916 + 0.2·wait 0.391 under the 50/30/20 profile — with the three normalized factors drawn as bars beside the number.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SHAP on every prediction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Green/red chips attribute each survival probability: the SOFA-20 patient's −3.80 sofa term and +1.04 age term explain its 0.284 p-surv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Defensible to the bedside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Every rank maps to medical quantities — six SOFA organs, age, comorbidity, hours waited — a clinician can verify rather than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12355B"/>
                </a:solidFill>
                <a:latin typeface="Avenir Next"/>
              </a:rPr>
              <a:t>Live view: Severity-dominant (50/30/20) profile · 24h wait horizon · as of 2026-01-01 11:00.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LIVE DASHBOARD — PER-PATIENT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A journey for every patient in the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7781331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history-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635027" cy="5129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Rank history per patient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Click any row and the patient's rank on every snapshot unfolds, each chip labelled with the trigger — arrival, removal, freed bed — behind that move.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Movement signs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Up, down, unchanged, new: the live queue wears its own history on its sleeve as the ward changes around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Accountability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“Why did this patient's priority change?” has a documented, replayable answer — not a guess.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LIVE DASHBOARD — REPLAY THE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The ward changed; the queue reacted — and it's recorded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7781331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snapshot-tip-arr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635027" cy="5129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Snapshot per re-rank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Every arrival, removal, or freed bed writes an immutable Ranking Snapshot. The header shows record #3 — re-rank: tip-arrival — with the newly arrived SOFA-20 patient in the mix.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6FD0"/>
                </a:solidFill>
                <a:latin typeface="Avenir Next"/>
              </a:rPr>
              <a:t>HOW IT WORKS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Waiting time saturates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The wait factor follows a 24h quadratic horizon then caps — protecting the 36h long-waiter (patient-1) without ever letting a wait dominate the decision.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Reproduce any instant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Drag the slider back in time: the queue at any recorded moment is exactly what was ranked then — recreatable, reviewable, shareable.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LIVE DASHBOARD — THE ARBITRATION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The system recommends. The clinician decides.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7523970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decision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77666" cy="51297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6FD0"/>
                </a:solidFill>
                <a:latin typeface="Avenir Next"/>
              </a:rPr>
              <a:t>HOW IT WORKS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Recommendation with reasoning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When a bed frees, the panel states the case: “patient-1 is ranked #1 with priority score 0.673 — severity 0.417, survival 0.8…” — the evidence, next to the queue.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Confirm or consciously deviate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The clinician confirms — or overrides to a lower-ranked candidate, and the deviation, the recommendation it overrode, and any note are recorded in the same audit trail.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Human-in-the-loop by design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The system never auto-allocates. The final call is always the clinician's, and always auditable after the 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SAME QUEUE, THREE POLICY STANCES — CLI 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The weight profile is a policy decision, made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7964424" cy="516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cli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818120" cy="50187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One queue, three answers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The identical ward is replayed under Severity-dominant, Balanced, and Severity-heavy — and the highlighted block shows the SOFA-20 arrival overtaking to #2 when the policy says severity matters most.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6FD0"/>
                </a:solidFill>
                <a:latin typeface="Avenir Next"/>
              </a:rPr>
              <a:t>HOW IT WORKS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Named weight presets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50/30/20, 40/30/30, 60/25/15 — each Weight Profile is scoped to the run and logged with every snapshot, so a score is always traceable to its stance.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Policy discussions, not black boxes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Hospitals argue about weights, not about hidden logic — the ethical stance is an explicit, comparable parameter.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THE SURVIVAL MODEL — VALIDATED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A demo refuses to run on an unvalidated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7964424" cy="463541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cli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818120" cy="44891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Hold-out validation gate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AUC 0.61, Brier 0.121, per-decile calibration to 0.05 — and if the model fails the tolerance (AUC ≥ 0.60, mean calibration ≤ 0.06), every demonstration path refuses to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6FD0"/>
                </a:solidFill>
                <a:latin typeface="Avenir Next"/>
              </a:rPr>
              <a:t>HOW IT WORKS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Honest metrics, in the open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The report is written alongside the trained booster, decile by decile, so the strengths — and the calibration tail — are visible before anyone trusts a rank.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Safe by construction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You cannot demo, serve, or replay on a model that hasn't proven itself on data it never saw — the gate is in the code path, not in a review meeting.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END-TO-END SIMULATION RUN — THE CLI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One replayable audit trail, from ward opening to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225295"/>
            <a:ext cx="6558534" cy="5276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-cli-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6412230" cy="5129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13648" y="1298448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13648" y="1298448"/>
            <a:ext cx="91440" cy="1627632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3104" y="1426464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6FD0"/>
                </a:solidFill>
                <a:latin typeface="Avenir Next"/>
              </a:rPr>
              <a:t>HOW IT WORKS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Score drift you can read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patient-1 climbs 0.586 → 0.673 purely as hours-on-list grow past the horizon — the waiting factor at work, snapshot by snapshot.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3108960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3108960"/>
            <a:ext cx="91440" cy="162763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3236976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2355B"/>
                </a:solidFill>
                <a:latin typeface="Avenir Next"/>
              </a:rPr>
              <a:t>WHY IT'S UNIQUE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Append-only Ranking Snapshots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Each snapshot records the ordered queue, factor breakdown, SHAP attribution, weight profile, horizon, and trigger — one continuous, reproducible 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13648" y="4919472"/>
            <a:ext cx="310896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13648" y="4919472"/>
            <a:ext cx="91440" cy="1627632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33104" y="5047488"/>
            <a:ext cx="26974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2F9E62"/>
                </a:solidFill>
                <a:latin typeface="Avenir Next"/>
              </a:rPr>
              <a:t>KEY BENEFIT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7212B"/>
                </a:solidFill>
                <a:latin typeface="Avenir Next"/>
              </a:rPr>
              <a:t>Ready for review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D6B78"/>
                </a:solidFill>
                <a:latin typeface="Avenir Next"/>
              </a:rPr>
              <a:t>A morbidity-and-mortality committee can replay tonight's decision morning-after, exactly as made — including any deviation and the note.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F9E62"/>
                </a:solidFill>
                <a:latin typeface="Avenir Next"/>
              </a:rPr>
              <a:t>THE MODEL, IN ONE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355B"/>
                </a:solidFill>
                <a:latin typeface="Avenir Next"/>
              </a:rPr>
              <a:t>Key benefits of the CareGrid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468112" cy="1664208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1664208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627632"/>
            <a:ext cx="50292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Explainable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9D8EA"/>
                </a:solidFill>
                <a:latin typeface="Avenir Next"/>
              </a:rPr>
              <a:t>Every survival prediction carries SHAP attribution; every score decomposes into severity, survival, and waiting so a nurse can follow the math.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5468112" cy="1664208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463040"/>
            <a:ext cx="82296" cy="1664208"/>
          </a:xfrm>
          <a:prstGeom prst="rect">
            <a:avLst/>
          </a:prstGeom>
          <a:solidFill>
            <a:srgbClr val="C19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627632"/>
            <a:ext cx="50292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Deterministic fairness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9D8EA"/>
                </a:solidFill>
                <a:latin typeface="Avenir Next"/>
              </a:rPr>
              <a:t>The Tie-Break Cascade resolves near-equal scores on severity → survival → wait → order-of-arrival, and says which stage decided.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28416"/>
            <a:ext cx="5468112" cy="1664208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28416"/>
            <a:ext cx="82296" cy="1664208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493008"/>
            <a:ext cx="50292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Clinician in the loop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9D8EA"/>
                </a:solidFill>
                <a:latin typeface="Avenir Next"/>
              </a:rPr>
              <a:t>Recommendation always faces a human confirm-or-deviate decision, with the deviation recorded alongside the recommendation it overrode.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3328416"/>
            <a:ext cx="5468112" cy="1664208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3328416"/>
            <a:ext cx="82296" cy="166420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3493008"/>
            <a:ext cx="50292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Immutable audit trail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9D8EA"/>
                </a:solidFill>
                <a:latin typeface="Avenir Next"/>
              </a:rPr>
              <a:t>An append-only Ranking Snapshot after every re-rank — profile, horizon, factors, SHAP, trigger — replayable end-to-end.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93792"/>
            <a:ext cx="5468112" cy="1664208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93792"/>
            <a:ext cx="82296" cy="1664208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358383"/>
            <a:ext cx="50292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Policy as configuration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9D8EA"/>
                </a:solidFill>
                <a:latin typeface="Avenir Next"/>
              </a:rPr>
              <a:t>Weight Profiles are named, scoped to the run, and logged with every snapshot, so an ethical stance is explicit and comparable.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5193792"/>
            <a:ext cx="5468112" cy="1664208"/>
          </a:xfrm>
          <a:prstGeom prst="rect">
            <a:avLst/>
          </a:prstGeom>
          <a:solidFill>
            <a:srgbClr val="0B223C"/>
          </a:solidFill>
          <a:ln w="12700">
            <a:solidFill>
              <a:srgbClr val="2A4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5193792"/>
            <a:ext cx="82296" cy="1664208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5358383"/>
            <a:ext cx="50292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Safe by construction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C9D8EA"/>
                </a:solidFill>
                <a:latin typeface="Avenir Next"/>
              </a:rPr>
              <a:t>Hold-out validation gates every demonstration: no demo, dashboard, or replay runs on a model that fails AUC and calibration tolerance.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3400" b="1" i="0">
                <a:solidFill>
                  <a:srgbClr val="12355B"/>
                </a:solidFill>
                <a:latin typeface="Avenir Next"/>
              </a:rPr>
              <a:t>From queue to decision, explained and on record.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i="0">
                <a:solidFill>
                  <a:srgbClr val="5D6B78"/>
                </a:solidFill>
                <a:latin typeface="Avenir Next"/>
              </a:rPr>
              <a:t>CareGrid ranks the critical-care waitlist with a validated, explainable survival model; re-ranks on every change; and hands the clinician a recommendation on a bed they can trace, question, or override — every step written to an immutable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9E62"/>
                </a:solidFill>
                <a:latin typeface="Avenir Next"/>
              </a:rPr>
              <a:t>Not a black box. Not an autopilot. A decision-support system built to be reviewed.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D6B7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